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bối cảnh thực tiễn để thấy rõ giá trị bài toán.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trọng tâm ảo hóa — thiết bị mô phỏng bằng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Kiến trúc lai theo Hình 1.5 đề bài: Thiết bị ↔ Mosquitto broker ↔ Edge Gateway ↔ {InfluxDB→Grafana, ThingsBoard Cloud}. Edge Gateway là thành phần trung tâm, ĐỒNG THỜI đóng vai trò ThingsBoard gateway (đẩy telemetry↑, nhận RPC↓). Gateway điều khiển actuator bằng cách publish command lên broker (không nối trực tiếp actuator). CHI TIẾT TRIỂN KHAI: vai trò ThingsBoard gateway được tách thành container tb-gateway riêng (cùng codebase iot_gateway); nó subscribe waste/+/gateway/normalized &amp; /event từ broker, đẩy v1/gateway/telemetry lên ThingsBoard, nhận v1/gateway/rpc → command lên broker → actuator, và đẩy shared-attributes → waste/gateway/config để gateway chỉnh ngưỡng runtime. Grafana &amp; REST API đọc InfluxDB; REST API cũng publish command lên broker.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Nhờ wildcard, gateway chỉ cần một lệnh subscribe cho mọi thùng.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Dữ liệu có xu hướng và cơ chế an toàn tại thiết bị thể hiện tính thực tiễn.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Khái niệm cốt lõi của học phần: điện toán biên.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nhấn kỹ thuật: tách hai khái niệm giúp hệ thống ổn định, dễ kiểm thử.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Dán ảnh chụp dashboard Grafana và trang thiết bị ThingsBoard làm bằng chứng.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Cùng một cơ chế config phục vụ cả REST API và ThingsBoard — thống nhất thiết kế.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Đúng tinh thần ảo hóa: hạ tầng tái lập, triển khai bằng một câu lệnh.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TRỌNG TÂM (5–6 phút). Chuẩn bị hệ thống chạy sẵn; vừa thao tác vừa giải thích.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thể hiện chiều sâu: trình bày trung thực lỗi đã gặp và cách khắc phục.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độ tin cậy qua hệ thống test tự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Tổng kết ngắn gọn, khẳng định mức độ hoàn thành. Cảm ơn và mời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Quyết định an toàn được bảo vệ ở cả gateway và actuator (defense in depth).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12/12/2022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908792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</a:rPr>
              <a:t>VIRTUAL SMART WASTE MANAGEMENT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1090879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Hệ thống IoT Gateway ảo giám sát thùng rác thông minh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IT6130 — Lập trình và Ảo hóa cho IoT  ·  Đề tài 5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Nhóm thực hiện:  SV1  ·  SV2  ·  SV3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Đặt vấn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Bất cập: </a:t>
            </a:r>
            <a:r>
              <a:rPr sz="1800">
                <a:solidFill>
                  <a:srgbClr val="333333"/>
                </a:solidFill>
              </a:rPr>
              <a:t>thu gom rác theo lịch cố định gây thùng tràn hoặc xe chạy rỗng, lãng phí nguồn lực.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An toàn: </a:t>
            </a:r>
            <a:r>
              <a:rPr sz="1800">
                <a:solidFill>
                  <a:srgbClr val="333333"/>
                </a:solidFill>
              </a:rPr>
              <a:t>thùng kín tích tụ khí methane, tiềm ẩn nguy cơ cháy nổ mà không được giám sát.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Vận hành: </a:t>
            </a:r>
            <a:r>
              <a:rPr sz="1800">
                <a:solidFill>
                  <a:srgbClr val="333333"/>
                </a:solidFill>
              </a:rPr>
              <a:t>quá tải khối lượng và đổ nghiêng làm hư hỏng thiết bị, mất vệ sinh đô thị.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Yêu cầu: </a:t>
            </a:r>
            <a:r>
              <a:rPr sz="1800">
                <a:solidFill>
                  <a:srgbClr val="333333"/>
                </a:solidFill>
              </a:rPr>
              <a:t>hệ thống giám sát thời gian thực kết hợp ra quyết định tự động tại biên.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Mục tiêu và phạm vi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Ảo hóa toàn bộ chuỗi IoT đầu-cuối: cảm biến → broker → gateway → cơ cấu chấp hành.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Gateway biên tự động phát hiện bất thường bằng rule engine và điều khiển thiết bị.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Lưu trữ chuỗi thời gian và trực quan hóa dữ liệu bằng InfluxDB và Grafana.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Tích hợp đám mây: đồng bộ hai chiều với ThingsBoard và cung cấp REST API.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Triển khai toàn bộ bằng Docker Compose, bảo đảm khả năng tái lập.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Kiến trúc tổng thể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78992"/>
            <a:ext cx="7269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95959"/>
                </a:solidFill>
              </a:rPr>
              <a:t>──▶  MQTT        ┄ ┄▶  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72768"/>
            <a:ext cx="1783080" cy="731520"/>
          </a:xfrm>
          <a:prstGeom prst="round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Cảm biến ảo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(bin-01/02/03)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160520"/>
            <a:ext cx="1783080" cy="804672"/>
          </a:xfrm>
          <a:prstGeom prst="round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Cơ cấu chấp hành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(lock/compactor/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buzzer/dispatch)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697480"/>
            <a:ext cx="1554480" cy="914400"/>
          </a:xfrm>
          <a:prstGeom prst="round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MQTT Broker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Mosquitto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194560"/>
            <a:ext cx="1920240" cy="1417320"/>
          </a:xfrm>
          <a:prstGeom prst="roundRect">
            <a:avLst/>
          </a:prstGeom>
          <a:solidFill>
            <a:srgbClr val="8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Edge Gateway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normalize · rule engine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· ThingsBoard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1417320"/>
            <a:ext cx="1417320" cy="54864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8B1220"/>
                </a:solidFill>
              </a:rPr>
              <a:t>InfluxDB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2194560"/>
            <a:ext cx="1417320" cy="54864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8B1220"/>
                </a:solidFill>
              </a:rPr>
              <a:t>Grafana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069080"/>
            <a:ext cx="1737360" cy="777240"/>
          </a:xfrm>
          <a:prstGeom prst="roundRect">
            <a:avLst/>
          </a:prstGeom>
          <a:solidFill>
            <a:srgbClr val="8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ThingsBoard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5394960"/>
            <a:ext cx="1874519" cy="530352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8B1220"/>
                </a:solidFill>
              </a:rPr>
              <a:t>REST API (FastAPI)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5080" y="1993392"/>
            <a:ext cx="320040" cy="73152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32120" y="21031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telemetry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355080" y="3611880"/>
            <a:ext cx="365760" cy="54864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0" y="3675887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command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537960" y="3611880"/>
            <a:ext cx="365760" cy="54864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12280" y="385876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status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046720" y="2724912"/>
            <a:ext cx="274320" cy="18288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18120" y="2395728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telemetry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046720" y="3246120"/>
            <a:ext cx="274320" cy="18288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0" y="34564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command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692640" y="1783080"/>
            <a:ext cx="685800" cy="548640"/>
          </a:xfrm>
          <a:prstGeom prst="line">
            <a:avLst/>
          </a:prstGeom>
          <a:ln w="16510">
            <a:solidFill>
              <a:srgbClr val="BFBFB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55480" y="1828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ghi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1064240" y="1984248"/>
            <a:ext cx="0" cy="210312"/>
          </a:xfrm>
          <a:prstGeom prst="line">
            <a:avLst/>
          </a:prstGeom>
          <a:ln w="16510">
            <a:solidFill>
              <a:srgbClr val="BFBFB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109960" y="187451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đọc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55480" y="3611880"/>
            <a:ext cx="822960" cy="45720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81160" y="374903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telemetry↑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9921240" y="3611880"/>
            <a:ext cx="822960" cy="45720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561320" y="3703320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RPC↓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903720" y="3611880"/>
            <a:ext cx="274320" cy="1783080"/>
          </a:xfrm>
          <a:prstGeom prst="line">
            <a:avLst/>
          </a:prstGeom>
          <a:ln w="1651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69480" y="4434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</a:rPr>
              <a:t>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035040"/>
            <a:ext cx="7269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95959"/>
                </a:solidFill>
              </a:rPr>
              <a:t>Triển khai: vai trò ThingsBoard gateway chạy ở container tb-gateway riêng — đọc waste/+/gateway/normalized từ broker rồi đẩy lên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Thiết kế Topic và Message (SV1)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20840" y="1280160"/>
            <a:ext cx="3017520" cy="502920"/>
          </a:xfrm>
          <a:prstGeom prst="roundRect">
            <a:avLst/>
          </a:prstGeom>
          <a:solidFill>
            <a:srgbClr val="8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waste/{bin_id}/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240280"/>
            <a:ext cx="2240280" cy="8686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8B1220"/>
                </a:solidFill>
              </a:rPr>
              <a:t>sensor/</a:t>
            </a:r>
          </a:p>
          <a:p>
            <a:pPr algn="ctr"/>
            <a:r>
              <a:rPr sz="1000" b="0">
                <a:solidFill>
                  <a:srgbClr val="8B1220"/>
                </a:solidFill>
              </a:rPr>
              <a:t>telemetry · reset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733288" y="1783080"/>
            <a:ext cx="2496312" cy="457200"/>
          </a:xfrm>
          <a:prstGeom prst="line">
            <a:avLst/>
          </a:prstGeom>
          <a:ln w="1651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2240280"/>
            <a:ext cx="2240280" cy="8686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8B1220"/>
                </a:solidFill>
              </a:rPr>
              <a:t>actuator/</a:t>
            </a:r>
          </a:p>
          <a:p>
            <a:pPr algn="ctr"/>
            <a:r>
              <a:rPr sz="1000" b="0">
                <a:solidFill>
                  <a:srgbClr val="8B1220"/>
                </a:solidFill>
              </a:rPr>
              <a:t>command · status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973568" y="1783080"/>
            <a:ext cx="256032" cy="457200"/>
          </a:xfrm>
          <a:prstGeom prst="line">
            <a:avLst/>
          </a:prstGeom>
          <a:ln w="1651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2240280"/>
            <a:ext cx="2240280" cy="8686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8B1220"/>
                </a:solidFill>
              </a:rPr>
              <a:t>gateway/</a:t>
            </a:r>
          </a:p>
          <a:p>
            <a:pPr algn="ctr"/>
            <a:r>
              <a:rPr sz="1000" b="0">
                <a:solidFill>
                  <a:srgbClr val="8B1220"/>
                </a:solidFill>
              </a:rPr>
              <a:t>normalized ·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1783080"/>
            <a:ext cx="1984248" cy="457200"/>
          </a:xfrm>
          <a:prstGeom prst="line">
            <a:avLst/>
          </a:prstGeom>
          <a:ln w="1651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62856" y="3429000"/>
            <a:ext cx="7360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Đưa bin_id vào topic → gateway subscribe wildcard waste/+/sensor/telemetry.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Bản tin JSON, luôn kèm bin_id và timestamp.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Telemetry: </a:t>
            </a:r>
            <a:r>
              <a:rPr sz="1800">
                <a:solidFill>
                  <a:srgbClr val="333333"/>
                </a:solidFill>
              </a:rPr>
              <a:t>fill_level (%), weight_kg, methane_ppm, temperature (°C), tilt.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Thiết bị ảo: Cảm biến &amp; Cơ cấu chấp hành (SV1)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Cảm biến — </a:t>
            </a:r>
            <a:r>
              <a:rPr sz="1800">
                <a:solidFill>
                  <a:srgbClr val="333333"/>
                </a:solidFill>
              </a:rPr>
              <a:t>mỗi container là một thùng rác, publish mỗi 5–7 giây.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fill_level biến thiên có xu hướng (dựa trên giá trị trước), đúng quy luật vật lý.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sinh tình huống bất thường: spike methane, nguy cơ cháy, đổ nghiêng.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Cơ cấu chấp hành — </a:t>
            </a:r>
            <a:r>
              <a:rPr sz="1800">
                <a:solidFill>
                  <a:srgbClr val="333333"/>
                </a:solidFill>
              </a:rPr>
              <a:t>bốn thiết bị điều khiển được, có an toàn nhiều lớp: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4160520"/>
            <a:ext cx="1691640" cy="6400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8B1220"/>
                </a:solidFill>
              </a:rPr>
              <a:t>🔒 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160520"/>
            <a:ext cx="1691640" cy="6400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8B1220"/>
                </a:solidFill>
              </a:rPr>
              <a:t>🗜 compactor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4160520"/>
            <a:ext cx="1691640" cy="6400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8B1220"/>
                </a:solidFill>
              </a:rPr>
              <a:t>🔔 buzzer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4160520"/>
            <a:ext cx="1691640" cy="6400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8B1220"/>
                </a:solidFill>
              </a:rPr>
              <a:t>🚚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983480"/>
            <a:ext cx="6766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C4162A"/>
                </a:solidFill>
              </a:rPr>
              <a:t>Safety block: từ chối nén rác (compactor) khi đang báo cháy (buzzer = 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Edge Gateway và xử lý dữ liệu (SV2)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09160" y="1325880"/>
            <a:ext cx="502920" cy="502920"/>
          </a:xfrm>
          <a:prstGeom prst="ellipse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84708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Validate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30368" y="1577340"/>
            <a:ext cx="877824" cy="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0" y="1325880"/>
            <a:ext cx="502920" cy="502920"/>
          </a:xfrm>
          <a:prstGeom prst="ellipse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84708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Normalize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47688" y="1577340"/>
            <a:ext cx="877824" cy="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543800" y="1325880"/>
            <a:ext cx="502920" cy="502920"/>
          </a:xfrm>
          <a:prstGeom prst="ellipse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4708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Rule</a:t>
            </a:r>
          </a:p>
          <a:p>
            <a:pPr algn="ctr"/>
            <a:r>
              <a:rPr sz="1000" b="1">
                <a:solidFill>
                  <a:srgbClr val="333333"/>
                </a:solidFill>
              </a:rP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5008" y="1577340"/>
            <a:ext cx="877824" cy="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61120" y="1325880"/>
            <a:ext cx="502920" cy="502920"/>
          </a:xfrm>
          <a:prstGeom prst="ellipse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4708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Command</a:t>
            </a:r>
          </a:p>
          <a:p>
            <a:pPr algn="ctr"/>
            <a:r>
              <a:rPr sz="1000" b="1">
                <a:solidFill>
                  <a:srgbClr val="333333"/>
                </a:solidFill>
              </a:rPr>
              <a:t>/ 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82328" y="1577340"/>
            <a:ext cx="877824" cy="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378440" y="1325880"/>
            <a:ext cx="502920" cy="502920"/>
          </a:xfrm>
          <a:prstGeom prst="ellipse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84708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Ghi</a:t>
            </a:r>
          </a:p>
          <a:p>
            <a:pPr algn="ctr"/>
            <a:r>
              <a:rPr sz="1000" b="1">
                <a:solidFill>
                  <a:srgbClr val="333333"/>
                </a:solidFill>
              </a:rPr>
              <a:t>InfluxDB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514600"/>
            <a:ext cx="7360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Validate: đủ trường, đối chiếu bin_id với topic (chống giả mạo), kiểm tra timestamp.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Edge computing: </a:t>
            </a:r>
            <a:r>
              <a:rPr sz="1800">
                <a:solidFill>
                  <a:srgbClr val="333333"/>
                </a:solidFill>
              </a:rPr>
              <a:t>vì sao xử lý tại biên thay vì gửi thẳng đám mây?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độ trễ thấp cho quyết định an toàn.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khả năng chịu lỗi khi mất kết nối Internet.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gộp nhiều thùng qua một điểm lên đám mây.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Rule Engine và triết lý thiết kế (SV2)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62856" y="1234440"/>
          <a:ext cx="73609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1680"/>
                <a:gridCol w="2514600"/>
              </a:tblGrid>
              <a:tr h="3200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Điều kiện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Sự kiện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Hành động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fill &gt; 85 (&gt;95: critical)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bin_full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điều xe thu gom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temperature &gt; 60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fire_risk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bật còi, cấm nén rác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methane &gt; 500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gas_alert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cảnh báo thông khí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weight &gt; 60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overweight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khóa nắp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tilt = true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bin_tilted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lên lịch bảo trì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62856" y="3977639"/>
            <a:ext cx="7360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Hàm thuần: </a:t>
            </a:r>
            <a:r>
              <a:rPr sz="1800">
                <a:solidFill>
                  <a:srgbClr val="333333"/>
                </a:solidFill>
              </a:rPr>
              <a:t>không phụ thuộc trạng thái → kiểm thử độc lập, không cần broker.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Edge/level-based: </a:t>
            </a:r>
            <a:r>
              <a:rPr sz="1800">
                <a:solidFill>
                  <a:srgbClr val="333333"/>
                </a:solidFill>
              </a:rPr>
              <a:t>event chỉ phát ở cạnh lên; lệnh có debounce, chỉ gửi khi trạng thái đổi.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Trực quan hóa &amp; Tích hợp đám mây (SV3)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C4162A"/>
                </a:solidFill>
              </a:rPr>
              <a:t>•  Grafana — </a:t>
            </a:r>
            <a:r>
              <a:rPr sz="1600">
                <a:solidFill>
                  <a:srgbClr val="333333"/>
                </a:solidFill>
              </a:rPr>
              <a:t>6 bảng (mức đầy, nhiệt độ, methane, trạng thái, sự kiện), cấu hình tự động.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C4162A"/>
                </a:solidFill>
              </a:rPr>
              <a:t>•  ThingsBoard — </a:t>
            </a:r>
            <a:r>
              <a:rPr sz="1600">
                <a:solidFill>
                  <a:srgbClr val="333333"/>
                </a:solidFill>
              </a:rPr>
              <a:t>đồng bộ hai chiều qua Gateway MQTT API; 3 thiết bị con tự xuất hiện.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chiều xuống: RPC → command; Alarm Rule (Critical/Warning) đã kiểm chứng.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03320"/>
            <a:ext cx="3566160" cy="2514600"/>
          </a:xfrm>
          <a:prstGeom prst="rect">
            <a:avLst/>
          </a:prstGeom>
          <a:solidFill>
            <a:srgbClr val="F2F2F2"/>
          </a:solidFill>
          <a:ln w="19050">
            <a:solidFill>
              <a:srgbClr val="C416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C4162A"/>
                </a:solidFill>
              </a:rPr>
              <a:t>🖼</a:t>
            </a:r>
          </a:p>
          <a:p>
            <a:pPr algn="ctr"/>
            <a:r>
              <a:rPr sz="1200" i="1">
                <a:solidFill>
                  <a:srgbClr val="595959"/>
                </a:solidFill>
              </a:rPr>
              <a:t>Ảnh chụp Dashboard Grafana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3703320"/>
            <a:ext cx="3566160" cy="2514600"/>
          </a:xfrm>
          <a:prstGeom prst="rect">
            <a:avLst/>
          </a:prstGeom>
          <a:solidFill>
            <a:srgbClr val="F2F2F2"/>
          </a:solidFill>
          <a:ln w="19050">
            <a:solidFill>
              <a:srgbClr val="C416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C4162A"/>
                </a:solidFill>
              </a:rPr>
              <a:t>🖼</a:t>
            </a:r>
          </a:p>
          <a:p>
            <a:pPr algn="ctr"/>
            <a:r>
              <a:rPr sz="1200" i="1">
                <a:solidFill>
                  <a:srgbClr val="595959"/>
                </a:solidFill>
              </a:rPr>
              <a:t>Ảnh chụp ThingsBoard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REST API và cấu hình thời gian thực (SV3)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API bằng FastAPI, tài liệu tự sinh tại :8001/docs.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Truy vấn trạng thái, đọc sự kiện, gửi lệnh, xem/điều chỉnh ngưỡng.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Nổi bật: </a:t>
            </a:r>
            <a:r>
              <a:rPr sz="1800">
                <a:solidFill>
                  <a:srgbClr val="333333"/>
                </a:solidFill>
              </a:rPr>
              <a:t>điều chỉnh ngưỡng rule engine khi đang vận hành, không khởi động lại.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3840480"/>
            <a:ext cx="2514600" cy="548640"/>
          </a:xfrm>
          <a:prstGeom prst="round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REST  POST /config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4617720"/>
            <a:ext cx="2514600" cy="548640"/>
          </a:xfrm>
          <a:prstGeom prst="round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ThingsBoard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Shared Attributes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206240"/>
            <a:ext cx="2103120" cy="594360"/>
          </a:xfrm>
          <a:prstGeom prst="roundRect">
            <a:avLst/>
          </a:prstGeom>
          <a:solidFill>
            <a:srgbClr val="8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topic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waste/gateway/config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206240"/>
            <a:ext cx="1783080" cy="594360"/>
          </a:xfrm>
          <a:prstGeom prst="round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Gateway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cập nhật ngưỡng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4114800"/>
            <a:ext cx="411480" cy="256032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32320" y="4636008"/>
            <a:ext cx="411480" cy="256032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46920" y="4498848"/>
            <a:ext cx="365760" cy="0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12680" y="4846320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C4162A"/>
                </a:solidFill>
              </a:rPr>
              <a:t>hiệu lực tức thì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Triển khai và ảo hóa (SV3)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Một lệnh: </a:t>
            </a:r>
            <a:r>
              <a:rPr sz="1800">
                <a:solidFill>
                  <a:srgbClr val="333333"/>
                </a:solidFill>
              </a:rPr>
              <a:t>docker compose up -d --build  → khởi tạo trên 11 container.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12-factor: </a:t>
            </a:r>
            <a:r>
              <a:rPr sz="1800">
                <a:solidFill>
                  <a:srgbClr val="333333"/>
                </a:solidFill>
              </a:rPr>
              <a:t>toàn bộ tham số qua biến môi trường và tệp .env.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Trang bị healthcheck, chính sách restart, mạng riêng, volume lưu dữ liệu.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Thành phần ThingsBoard tách riêng theo profile, kích hoạt khi cần.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DEMO trực tiếp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3657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C4162A"/>
                </a:solidFill>
              </a:rPr>
              <a:t>•  Kịch bản 1 — </a:t>
            </a:r>
            <a:r>
              <a:rPr sz="1500">
                <a:solidFill>
                  <a:srgbClr val="333333"/>
                </a:solidFill>
              </a:rPr>
              <a:t>đầy → thu gom → reset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–  fill tăng dần, vượt 85 → bin_full, dispatch=on.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–  sau thời gian mô phỏng → reset, fill về 0.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C4162A"/>
                </a:solidFill>
              </a:rPr>
              <a:t>•  Kịch bản 2 — </a:t>
            </a:r>
            <a:r>
              <a:rPr sz="1500">
                <a:solidFill>
                  <a:srgbClr val="333333"/>
                </a:solidFill>
              </a:rPr>
              <a:t>nguy cơ cháy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–  nhiệt độ &gt; 60 → fire_risk, bật buzzer, tắt compactor.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–  bật compactor thủ công → safety block từ chối.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C4162A"/>
                </a:solidFill>
              </a:rPr>
              <a:t>•  Quan sát: </a:t>
            </a:r>
            <a:r>
              <a:rPr sz="1500">
                <a:solidFill>
                  <a:srgbClr val="333333"/>
                </a:solidFill>
              </a:rPr>
              <a:t>Grafana · ThingsBoard · API cập nhật đồng thời.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1325880"/>
            <a:ext cx="3474720" cy="4709160"/>
          </a:xfrm>
          <a:prstGeom prst="rect">
            <a:avLst/>
          </a:prstGeom>
          <a:solidFill>
            <a:srgbClr val="F2F2F2"/>
          </a:solidFill>
          <a:ln w="19050">
            <a:solidFill>
              <a:srgbClr val="C416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C4162A"/>
                </a:solidFill>
              </a:rPr>
              <a:t>🖼</a:t>
            </a:r>
          </a:p>
          <a:p>
            <a:pPr algn="ctr"/>
            <a:r>
              <a:rPr sz="1200" i="1">
                <a:solidFill>
                  <a:srgbClr val="595959"/>
                </a:solidFill>
              </a:rPr>
              <a:t>Ảnh chụp / video
màn hình demo
(log gateway · Grafana)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Khó khăn và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ThingsBoard chập chờn (rc=7): </a:t>
            </a:r>
            <a:r>
              <a:rPr sz="1800">
                <a:solidFill>
                  <a:srgbClr val="333333"/>
                </a:solidFill>
              </a:rPr>
              <a:t>sai định dạng API shared attributes → đám mây ngắt mỗi 1–2s. Bài học: nắm chính xác đặc tả giao thức.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Lỗi chỉ lộ khi chạy thật: </a:t>
            </a:r>
            <a:r>
              <a:rPr sz="1800">
                <a:solidFill>
                  <a:srgbClr val="333333"/>
                </a:solidFill>
              </a:rPr>
              <a:t>mock không phát hiện; chỉ lộ khi chạy Docker. Bài học: kiểm thử tích hợp là bắt buộc.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Tính năng 'trên giấy': </a:t>
            </a:r>
            <a:r>
              <a:rPr sz="1800">
                <a:solidFill>
                  <a:srgbClr val="333333"/>
                </a:solidFill>
              </a:rPr>
              <a:t>topic config publish nhưng không ai subscribe. Bài học: tích hợp đầu-cuối.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Dừng an toàn: </a:t>
            </a:r>
            <a:r>
              <a:rPr sz="1800">
                <a:solidFill>
                  <a:srgbClr val="333333"/>
                </a:solidFill>
              </a:rPr>
              <a:t>docker stop gửi SIGTERM → bổ sung xử lý tín hiệu để ngắt kết nối sạch.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Kiểm thử và bảo đảm chất lượng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Kiểm thử bằng unittest, không phụ thuộc Docker/broker/DB thật (hơn 50 test).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Rule engine &amp; state store: </a:t>
            </a:r>
            <a:r>
              <a:rPr sz="1800">
                <a:solidFill>
                  <a:srgbClr val="333333"/>
                </a:solidFill>
              </a:rPr>
              <a:t>debounce, phát hiện cạnh, vòng đời thu gom.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ThingsBoard bridge: </a:t>
            </a:r>
            <a:r>
              <a:rPr sz="1800">
                <a:solidFill>
                  <a:srgbClr val="333333"/>
                </a:solidFill>
              </a:rPr>
              <a:t>chuyển đổi RPC, payload telemetry/alarm, shared attributes.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REST API: </a:t>
            </a:r>
            <a:r>
              <a:rPr sz="1800">
                <a:solidFill>
                  <a:srgbClr val="333333"/>
                </a:solidFill>
              </a:rPr>
              <a:t>kiểm tra đầu vào, lỗi 404/422, gửi lệnh, đọc InfluxDB (mock).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Triết lý: </a:t>
            </a:r>
            <a:r>
              <a:rPr sz="1800">
                <a:solidFill>
                  <a:srgbClr val="333333"/>
                </a:solidFill>
              </a:rPr>
              <a:t>tách logic thuần khỏi I/O để kiểm thử độc lập.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Kết luận và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Kết quả: </a:t>
            </a:r>
            <a:r>
              <a:rPr sz="1800">
                <a:solidFill>
                  <a:srgbClr val="333333"/>
                </a:solidFill>
              </a:rPr>
              <a:t>hoàn thiện chuỗi IoT ảo hóa đầu-cuối, vận hành tự động, đồng bộ đám mây hai chiều.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có kiểm thử tự động, tài liệu, triển khai bằng một câu lệnh.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Hướng phát triển: </a:t>
            </a:r>
            <a:r>
              <a:rPr sz="1800">
                <a:solidFill>
                  <a:srgbClr val="333333"/>
                </a:solidFill>
              </a:rPr>
              <a:t>bảo mật MQTT bằng TLS và xác thực thiết bị.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học máy dự báo mức đầy, tối ưu lộ trình xe thu gom.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 mở rộng quy mô đa khu vực, đa gateway.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Phụ lục — Validate &amp; Normalize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Trường bắt buộc: </a:t>
            </a:r>
            <a:r>
              <a:rPr sz="1800">
                <a:solidFill>
                  <a:srgbClr val="333333"/>
                </a:solidFill>
              </a:rPr>
              <a:t>bin_id, fill_level, weight_kg, methane_ppm, temperature, timestamp.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Validate: </a:t>
            </a:r>
            <a:r>
              <a:rPr sz="1800">
                <a:solidFill>
                  <a:srgbClr val="333333"/>
                </a:solidFill>
              </a:rPr>
              <a:t>đối chiếu bin_id payload với topic; timestamp theo ISO-8601.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C4162A"/>
                </a:solidFill>
              </a:rPr>
              <a:t>•  Normalize: </a:t>
            </a:r>
            <a:r>
              <a:rPr sz="1800">
                <a:solidFill>
                  <a:srgbClr val="333333"/>
                </a:solidFill>
              </a:rPr>
              <a:t>ép kiểu, làm tròn, clamp fill_level [0,100], phân loại fill_status, gắn gateway_received_at.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Message không hợp lệ bị loại bỏ, không làm gián đoạn vòng lặp MQTT.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Phụ lục — Vòng đời thu gom &amp; phát hiện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234440"/>
            <a:ext cx="7360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Thùng vượt ngưỡng vào danh sách thu gom; sau COLLECTION_DELAY gateway publish reset.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Quá SENSOR_OFFLINE_TIMEOUT không có telemetry → sự kiện sensor_offline.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•  Đa luồng: thread mạng xử lý message, thread chính chạy vòng lặp bảo trì.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Phụ lục — REST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62856" y="1280160"/>
          <a:ext cx="73609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2880360"/>
              </a:tblGrid>
              <a:tr h="3200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Chức năng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GET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/health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kiểm tra tình trạng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GET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/bins , /bins/{id}/state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trạng thái thùng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GET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/bins/{id}/events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sự kiện gần đây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POST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/bins/{id}/command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gửi lệnh điều khiển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GET/POST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/config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xem / điều chỉnh ngưỡng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Phụ lục — Định dạng bản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62856" y="1371600"/>
            <a:ext cx="7360920" cy="11567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txBody>
          <a:bodyPr wrap="none" lIns="101600" rIns="101600" tIns="63500" bIns="635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Telemetry: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{"bin_id":"bin-01","fill_level":88.0,"weight_kg":70.4,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 "methane_ppm":350.0,"temperature":33.0,"lid_status":"closed",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 "tilt":false,"timestamp":"2026-06-10T10:00:00Z"}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Command: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333333"/>
                </a:solidFill>
                <a:latin typeface="Consolas"/>
              </a:rPr>
              <a:t>{"bin_id":"bin-01","target":"dispatch","action":"on","reason":"bin_full"}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Phụ lục — Kịch bản nguy cơ cháy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0" y="1280160"/>
            <a:ext cx="5120640" cy="548640"/>
          </a:xfrm>
          <a:prstGeom prst="round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Sensor:  temperature = 72.5°C ,  methane = 520 ppm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0" y="1828800"/>
            <a:ext cx="0" cy="32004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035040" y="2148840"/>
            <a:ext cx="4389120" cy="548640"/>
          </a:xfrm>
          <a:prstGeom prst="roundRect">
            <a:avLst/>
          </a:prstGeom>
          <a:solidFill>
            <a:srgbClr val="8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Gateway phát hiện  fire_risk  (critical)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309360" y="2697480"/>
            <a:ext cx="1005840" cy="36576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0" y="2697480"/>
            <a:ext cx="1005840" cy="365760"/>
          </a:xfrm>
          <a:prstGeom prst="line">
            <a:avLst/>
          </a:prstGeom>
          <a:ln w="2032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3063240"/>
            <a:ext cx="2377440" cy="548640"/>
          </a:xfrm>
          <a:prstGeom prst="round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buzzer =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063240"/>
            <a:ext cx="2377440" cy="548640"/>
          </a:xfrm>
          <a:prstGeom prst="round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compactor = OFF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3611880"/>
            <a:ext cx="0" cy="365759"/>
          </a:xfrm>
          <a:prstGeom prst="line">
            <a:avLst/>
          </a:prstGeom>
          <a:ln w="20320">
            <a:solidFill>
              <a:srgbClr val="C416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3977639"/>
            <a:ext cx="6400800" cy="868680"/>
          </a:xfrm>
          <a:prstGeom prst="roundRect">
            <a:avLst/>
          </a:prstGeom>
          <a:solidFill>
            <a:srgbClr val="F7E4E6"/>
          </a:solidFill>
          <a:ln w="12700">
            <a:solidFill>
              <a:srgbClr val="C41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8B1220"/>
                </a:solidFill>
              </a:rPr>
              <a:t>Nếu gửi nhầm  compactor = ON</a:t>
            </a:r>
          </a:p>
          <a:p>
            <a:pPr algn="ctr"/>
            <a:r>
              <a:rPr sz="1100" b="0">
                <a:solidFill>
                  <a:srgbClr val="8B1220"/>
                </a:solidFill>
              </a:rPr>
              <a:t>→ Actuator  SAFETY BLOCK  → từ chối lệnh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2856" y="365760"/>
            <a:ext cx="7360920" cy="731520"/>
          </a:xfrm>
        </p:spPr>
        <p:txBody>
          <a:bodyPr wrap="square"/>
          <a:lstStyle/>
          <a:p>
            <a:r>
              <a:rPr b="1" sz="2300">
                <a:solidFill>
                  <a:srgbClr val="C4162A"/>
                </a:solidFill>
              </a:rPr>
              <a:t>Phụ lục — Công nghệ &amp; Phân công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2856" y="1060704"/>
            <a:ext cx="1143000" cy="50292"/>
          </a:xfrm>
          <a:prstGeom prst="rect">
            <a:avLst/>
          </a:prstGeom>
          <a:solidFill>
            <a:srgbClr val="C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62856" y="1280160"/>
          <a:ext cx="7360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8348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Thành phần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Công nghệ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Ngôn ngữ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Python 3 (paho-mqtt, FastAPI, Pydantic)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Broker/DB/Dashboard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Mosquitto · InfluxDB 2.7 · Grafana 10.4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Đám mây/Triển khai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ThingsBoard Cloud · Docker Compose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62856" y="3383280"/>
          <a:ext cx="7360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2636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SV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Nhiệm vụ</a:t>
                      </a:r>
                    </a:p>
                  </a:txBody>
                  <a:tcPr marL="76200" marR="76200" marT="25400" marB="25400" anchor="ctr">
                    <a:solidFill>
                      <a:srgbClr val="C416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SV1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Cảm biến, cơ cấu chấp hành, thiết kế topic/message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SV2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Edge gateway, rule engine, InfluxDB</a:t>
                      </a:r>
                    </a:p>
                  </a:txBody>
                  <a:tcPr marL="76200" marR="76200" marT="25400" marB="25400" anchor="ctr">
                    <a:solidFill>
                      <a:srgbClr val="F7E4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SV3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ThingsBoard, REST API, Grafana, Docker Compose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90879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</a:rPr>
              <a:t>TRÂN TRỌNG 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9087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Nhóm thực hiện rất mong nhận được câu hỏi và góp ý của Thầy/Cô.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26</Words>
  <Application>Microsoft Office PowerPoint</Application>
  <PresentationFormat>Màn hình rộng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10</cp:revision>
  <dcterms:created xsi:type="dcterms:W3CDTF">2021-05-28T04:32:29Z</dcterms:created>
  <dcterms:modified xsi:type="dcterms:W3CDTF">2022-12-12T04:47:31Z</dcterms:modified>
</cp:coreProperties>
</file>